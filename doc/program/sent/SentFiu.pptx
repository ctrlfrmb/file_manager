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37" autoAdjust="0"/>
    <p:restoredTop sz="94660"/>
  </p:normalViewPr>
  <p:slideViewPr>
    <p:cSldViewPr snapToGrid="0">
      <p:cViewPr>
        <p:scale>
          <a:sx n="100" d="100"/>
          <a:sy n="100" d="100"/>
        </p:scale>
        <p:origin x="117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8FF933-3E02-CF74-D122-202E63748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A573903-EDA9-504E-8F1B-FF3413AA09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8A88CE-6971-0D57-1B3C-95BAB19FE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63376-A7AF-43ED-8789-2DF297C02BCC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D7F815-48A9-CCF7-B615-1CEDEE0C8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BB6AC8-1749-524B-921C-471D827FA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EAC13-356F-4B0D-85C4-D58C286416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493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3AA6D0-762B-7DF8-863F-3907A2235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9458E9-4B11-EDC9-20CC-E0AF0FC52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BB56CE-EF42-DC16-925D-EE35AEBCD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63376-A7AF-43ED-8789-2DF297C02BCC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578B82-A7B0-AFDC-694A-56F006257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C4D879-9525-5626-7663-C3EA89722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EAC13-356F-4B0D-85C4-D58C286416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227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52D2BF-8C1F-EBA8-65B8-E224F433E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07CE03-8CE7-9785-5FC5-CEC390FC0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ECD570-7D46-EA6C-DBCA-E31C34A27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63376-A7AF-43ED-8789-2DF297C02BCC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D5D188-958F-EAD5-3A31-17D951BBF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74110E-EE72-8945-C87C-28DF95AC3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EAC13-356F-4B0D-85C4-D58C286416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243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29BFCC-FC11-12FB-1D3E-7DDB4D824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9F8A2A-988B-8412-1B26-4547A14DEF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7C3896-B2AB-5A90-8D7C-79FF84510C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96E80D-A787-C266-3B3D-28A1F7BF6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63376-A7AF-43ED-8789-2DF297C02BCC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07895B-F26E-B5FC-932C-427F11CC9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9BF071-40A6-57AF-23D5-63C7F9478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EAC13-356F-4B0D-85C4-D58C286416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3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A28C7F-CE6C-BF04-EFA0-89B9C15B2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63083E-5142-9191-C8F4-A5C458117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84ADEAA-3076-CE8D-C43D-9CBE33B91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A1B5724-C330-EF36-6633-5EAB56D4D3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FBCA1E7-B27A-C0AD-CC3B-3FE1398297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A00A8F9-8EB2-6350-98A8-284FFB033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63376-A7AF-43ED-8789-2DF297C02BCC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C1CC0F4-6FC3-CC53-CD5D-B7D342A20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A7DF9BB-73D7-3E4C-8128-4E93FDB25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EAC13-356F-4B0D-85C4-D58C286416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385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1DF3F6-6F6A-B547-331B-754F647E9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5EEEFB2-4263-1D60-47B1-18305F646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63376-A7AF-43ED-8789-2DF297C02BCC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49F41F1-E275-3B99-8953-C198DA32A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7939A8-D368-9006-C96F-AD2098CF5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EAC13-356F-4B0D-85C4-D58C286416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251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02805DD-2708-E5C2-0D08-13E927DF7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63376-A7AF-43ED-8789-2DF297C02BCC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5859E58-66FB-B3A4-CA74-EF687D004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456924-956E-EC6F-8B4F-661D0DEA3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EAC13-356F-4B0D-85C4-D58C286416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580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AC3FF5-C9AB-28EC-1683-6BBD610DA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209851-F318-3352-2DF0-F7F7272FC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9509DAB-A6CF-9BB7-99A3-1C0D1A642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864E99-5E00-7803-6472-453E6269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63376-A7AF-43ED-8789-2DF297C02BCC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1CCE78-9C4E-523A-258E-B0454A7DB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DC9B4B-06B8-E785-3B75-A9AE1F8A2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EAC13-356F-4B0D-85C4-D58C286416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062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3FB925-ABCF-7EC8-3D5F-4C64D3E17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CA08743-2489-4369-F1C4-18DD47BDEA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B180D81-0BEC-7F23-6DC6-7A6A60744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D31CD6-CEBE-CA64-3692-5245558AE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63376-A7AF-43ED-8789-2DF297C02BCC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F6DE9A-E6BF-4877-7A40-C8431EB18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CD8B78-8137-1638-9466-F2B877E95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EAC13-356F-4B0D-85C4-D58C286416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217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97C8DA-4300-AD83-CC1C-261DADF8E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A2CCF81-B263-43C2-4B6B-0CF2C1B96B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E8F214-9F87-6832-CC46-053EC27A6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63376-A7AF-43ED-8789-2DF297C02BCC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99D48D-09AD-33E2-232C-BECA619C3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887682-2E82-0A80-D173-008DB7633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EAC13-356F-4B0D-85C4-D58C286416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861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35005C9-2152-313C-2C14-4118FE046D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3B66244-2158-9E5E-20B5-ADFDC61BA3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2841FB-317B-75C1-5A9D-064917861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63376-A7AF-43ED-8789-2DF297C02BCC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4E0D42-DB72-60D2-9B77-8D0DDC10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776586-B8FF-92A8-52AA-5179EC5EA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EAC13-356F-4B0D-85C4-D58C286416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40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C26501F-4398-60C2-B9AC-63905B649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CA5EAA-5667-FD04-4042-E8325FC3E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204550-99B4-75B4-7384-61382CCE69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663376-A7AF-43ED-8789-2DF297C02BCC}" type="datetimeFigureOut">
              <a:rPr lang="zh-CN" altLang="en-US" smtClean="0"/>
              <a:t>2026/1/6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871FC7-2A16-FA97-BA95-2534D97083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DC5E10-DE25-415B-9BAB-B3526EFB6D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EAC13-356F-4B0D-85C4-D58C286416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502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53FC25DA-3AEF-50E1-ABE8-9DEF4F0552EF}"/>
              </a:ext>
            </a:extLst>
          </p:cNvPr>
          <p:cNvSpPr/>
          <p:nvPr/>
        </p:nvSpPr>
        <p:spPr>
          <a:xfrm>
            <a:off x="838200" y="171449"/>
            <a:ext cx="8343900" cy="380047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E4960883-83F2-D09F-DFDD-19A066E56B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665805"/>
              </p:ext>
            </p:extLst>
          </p:nvPr>
        </p:nvGraphicFramePr>
        <p:xfrm>
          <a:off x="1153895" y="1714775"/>
          <a:ext cx="5754834" cy="35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402">
                  <a:extLst>
                    <a:ext uri="{9D8B030D-6E8A-4147-A177-3AD203B41FA5}">
                      <a16:colId xmlns:a16="http://schemas.microsoft.com/office/drawing/2014/main" val="897216625"/>
                    </a:ext>
                  </a:extLst>
                </a:gridCol>
                <a:gridCol w="744776">
                  <a:extLst>
                    <a:ext uri="{9D8B030D-6E8A-4147-A177-3AD203B41FA5}">
                      <a16:colId xmlns:a16="http://schemas.microsoft.com/office/drawing/2014/main" val="3672226533"/>
                    </a:ext>
                  </a:extLst>
                </a:gridCol>
                <a:gridCol w="744776">
                  <a:extLst>
                    <a:ext uri="{9D8B030D-6E8A-4147-A177-3AD203B41FA5}">
                      <a16:colId xmlns:a16="http://schemas.microsoft.com/office/drawing/2014/main" val="2383896721"/>
                    </a:ext>
                  </a:extLst>
                </a:gridCol>
                <a:gridCol w="744776">
                  <a:extLst>
                    <a:ext uri="{9D8B030D-6E8A-4147-A177-3AD203B41FA5}">
                      <a16:colId xmlns:a16="http://schemas.microsoft.com/office/drawing/2014/main" val="212962426"/>
                    </a:ext>
                  </a:extLst>
                </a:gridCol>
                <a:gridCol w="744776">
                  <a:extLst>
                    <a:ext uri="{9D8B030D-6E8A-4147-A177-3AD203B41FA5}">
                      <a16:colId xmlns:a16="http://schemas.microsoft.com/office/drawing/2014/main" val="1200797000"/>
                    </a:ext>
                  </a:extLst>
                </a:gridCol>
                <a:gridCol w="744776">
                  <a:extLst>
                    <a:ext uri="{9D8B030D-6E8A-4147-A177-3AD203B41FA5}">
                      <a16:colId xmlns:a16="http://schemas.microsoft.com/office/drawing/2014/main" val="240937783"/>
                    </a:ext>
                  </a:extLst>
                </a:gridCol>
                <a:gridCol w="1281272">
                  <a:extLst>
                    <a:ext uri="{9D8B030D-6E8A-4147-A177-3AD203B41FA5}">
                      <a16:colId xmlns:a16="http://schemas.microsoft.com/office/drawing/2014/main" val="186903147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95757115"/>
                    </a:ext>
                  </a:extLst>
                </a:gridCol>
              </a:tblGrid>
              <a:tr h="359500">
                <a:tc>
                  <a:txBody>
                    <a:bodyPr/>
                    <a:lstStyle/>
                    <a:p>
                      <a:r>
                        <a:rPr lang="zh-CN" altLang="en-US" sz="800" dirty="0"/>
                        <a:t>传感器</a:t>
                      </a:r>
                      <a:r>
                        <a:rPr lang="en-US" altLang="zh-CN" sz="800" dirty="0"/>
                        <a:t>-Time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 err="1"/>
                        <a:t>NbNum</a:t>
                      </a:r>
                      <a:endParaRPr lang="en-US" altLang="zh-CN" sz="800" dirty="0"/>
                    </a:p>
                    <a:p>
                      <a:r>
                        <a:rPr lang="en-US" altLang="zh-CN" sz="800" dirty="0"/>
                        <a:t>1-6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/>
                        <a:t>Rolling Flag</a:t>
                      </a:r>
                    </a:p>
                    <a:p>
                      <a:r>
                        <a:rPr lang="en-US" altLang="zh-CN" sz="800" dirty="0"/>
                        <a:t>0-3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 err="1"/>
                        <a:t>Dcc</a:t>
                      </a:r>
                      <a:r>
                        <a:rPr lang="en-US" altLang="zh-CN" sz="800" dirty="0"/>
                        <a:t> Flag</a:t>
                      </a:r>
                    </a:p>
                    <a:p>
                      <a:r>
                        <a:rPr lang="en-US" altLang="zh-CN" sz="800" dirty="0"/>
                        <a:t>0/1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 err="1">
                          <a:solidFill>
                            <a:srgbClr val="FF0000"/>
                          </a:solidFill>
                        </a:rPr>
                        <a:t>SlMsgNum</a:t>
                      </a:r>
                      <a:endParaRPr lang="en-US" altLang="zh-CN" sz="800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altLang="zh-CN" sz="800" dirty="0">
                          <a:solidFill>
                            <a:srgbClr val="FF0000"/>
                          </a:solidFill>
                        </a:rPr>
                        <a:t>0-15</a:t>
                      </a:r>
                      <a:endParaRPr lang="zh-CN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 err="1"/>
                        <a:t>FsMsgNum</a:t>
                      </a:r>
                      <a:endParaRPr lang="en-US" altLang="zh-CN" sz="800" dirty="0"/>
                    </a:p>
                    <a:p>
                      <a:r>
                        <a:rPr lang="en-US" altLang="zh-CN" sz="800" dirty="0"/>
                        <a:t>1-16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00" dirty="0"/>
                        <a:t>消息长度</a:t>
                      </a:r>
                      <a:endParaRPr lang="en-US" altLang="zh-CN" sz="800" dirty="0"/>
                    </a:p>
                    <a:p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437889"/>
                  </a:ext>
                </a:extLst>
              </a:tr>
            </a:tbl>
          </a:graphicData>
        </a:graphic>
      </p:graphicFrame>
      <p:graphicFrame>
        <p:nvGraphicFramePr>
          <p:cNvPr id="36" name="表格 35">
            <a:extLst>
              <a:ext uri="{FF2B5EF4-FFF2-40B4-BE49-F238E27FC236}">
                <a16:creationId xmlns:a16="http://schemas.microsoft.com/office/drawing/2014/main" id="{5B367D76-545C-0F2F-9CF2-EFF155533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6508465"/>
              </p:ext>
            </p:extLst>
          </p:nvPr>
        </p:nvGraphicFramePr>
        <p:xfrm>
          <a:off x="1153895" y="327333"/>
          <a:ext cx="6485153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0805">
                  <a:extLst>
                    <a:ext uri="{9D8B030D-6E8A-4147-A177-3AD203B41FA5}">
                      <a16:colId xmlns:a16="http://schemas.microsoft.com/office/drawing/2014/main" val="897216625"/>
                    </a:ext>
                  </a:extLst>
                </a:gridCol>
                <a:gridCol w="964058">
                  <a:extLst>
                    <a:ext uri="{9D8B030D-6E8A-4147-A177-3AD203B41FA5}">
                      <a16:colId xmlns:a16="http://schemas.microsoft.com/office/drawing/2014/main" val="3672226533"/>
                    </a:ext>
                  </a:extLst>
                </a:gridCol>
                <a:gridCol w="964058">
                  <a:extLst>
                    <a:ext uri="{9D8B030D-6E8A-4147-A177-3AD203B41FA5}">
                      <a16:colId xmlns:a16="http://schemas.microsoft.com/office/drawing/2014/main" val="2383896721"/>
                    </a:ext>
                  </a:extLst>
                </a:gridCol>
                <a:gridCol w="964058">
                  <a:extLst>
                    <a:ext uri="{9D8B030D-6E8A-4147-A177-3AD203B41FA5}">
                      <a16:colId xmlns:a16="http://schemas.microsoft.com/office/drawing/2014/main" val="212962426"/>
                    </a:ext>
                  </a:extLst>
                </a:gridCol>
                <a:gridCol w="964058">
                  <a:extLst>
                    <a:ext uri="{9D8B030D-6E8A-4147-A177-3AD203B41FA5}">
                      <a16:colId xmlns:a16="http://schemas.microsoft.com/office/drawing/2014/main" val="1200797000"/>
                    </a:ext>
                  </a:extLst>
                </a:gridCol>
                <a:gridCol w="964058">
                  <a:extLst>
                    <a:ext uri="{9D8B030D-6E8A-4147-A177-3AD203B41FA5}">
                      <a16:colId xmlns:a16="http://schemas.microsoft.com/office/drawing/2014/main" val="240937783"/>
                    </a:ext>
                  </a:extLst>
                </a:gridCol>
                <a:gridCol w="964058">
                  <a:extLst>
                    <a:ext uri="{9D8B030D-6E8A-4147-A177-3AD203B41FA5}">
                      <a16:colId xmlns:a16="http://schemas.microsoft.com/office/drawing/2014/main" val="32433213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800" dirty="0"/>
                        <a:t>Tick</a:t>
                      </a:r>
                      <a:r>
                        <a:rPr lang="zh-CN" altLang="en-US" sz="800" dirty="0"/>
                        <a:t>时间</a:t>
                      </a:r>
                      <a:r>
                        <a:rPr lang="en-US" altLang="zh-CN" sz="800" dirty="0"/>
                        <a:t>us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3us</a:t>
                      </a:r>
                      <a:endParaRPr lang="zh-CN" altLang="en-US" sz="800" dirty="0"/>
                    </a:p>
                    <a:p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00" dirty="0"/>
                        <a:t>同步时间</a:t>
                      </a:r>
                      <a:r>
                        <a:rPr lang="en-US" altLang="zh-CN" sz="800" dirty="0"/>
                        <a:t>Tick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56</a:t>
                      </a:r>
                      <a:endParaRPr lang="zh-CN" altLang="en-US" sz="800" dirty="0"/>
                    </a:p>
                    <a:p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00" dirty="0"/>
                        <a:t>信号脉冲宽度</a:t>
                      </a:r>
                      <a:endParaRPr lang="en-US" altLang="zh-CN" sz="800" dirty="0"/>
                    </a:p>
                    <a:p>
                      <a:r>
                        <a:rPr lang="en-US" altLang="zh-CN" sz="800" dirty="0"/>
                        <a:t>5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dirty="0"/>
                        <a:t>输出极性</a:t>
                      </a:r>
                    </a:p>
                    <a:p>
                      <a:r>
                        <a:rPr lang="en-US" altLang="zh-CN" sz="800" dirty="0"/>
                        <a:t>H/L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00" dirty="0"/>
                        <a:t>使能</a:t>
                      </a:r>
                      <a:endParaRPr lang="en-US" altLang="zh-CN" sz="800" dirty="0"/>
                    </a:p>
                    <a:p>
                      <a:r>
                        <a:rPr lang="en-US" altLang="zh-CN" sz="800" dirty="0"/>
                        <a:t>En/Dis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00" dirty="0">
                          <a:solidFill>
                            <a:srgbClr val="FF0000"/>
                          </a:solidFill>
                        </a:rPr>
                        <a:t>模式</a:t>
                      </a:r>
                      <a:endParaRPr lang="en-US" altLang="zh-CN" sz="800" dirty="0">
                        <a:solidFill>
                          <a:srgbClr val="FF0000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>
                          <a:solidFill>
                            <a:srgbClr val="FF0000"/>
                          </a:solidFill>
                        </a:rPr>
                        <a:t>SPC_MODE</a:t>
                      </a:r>
                    </a:p>
                    <a:p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800" dirty="0">
                          <a:solidFill>
                            <a:srgbClr val="FF0000"/>
                          </a:solidFill>
                        </a:rPr>
                        <a:t>传感器数量</a:t>
                      </a:r>
                    </a:p>
                    <a:p>
                      <a:r>
                        <a:rPr lang="zh-CN" altLang="en-US" sz="800" dirty="0">
                          <a:solidFill>
                            <a:srgbClr val="FF0000"/>
                          </a:solidFill>
                        </a:rPr>
                        <a:t>时间模式下：为</a:t>
                      </a:r>
                      <a:r>
                        <a:rPr lang="en-US" altLang="zh-CN" sz="800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  <a:p>
                      <a:r>
                        <a:rPr lang="zh-CN" altLang="en-US" sz="800" dirty="0"/>
                        <a:t>触发模式下：</a:t>
                      </a:r>
                      <a:r>
                        <a:rPr lang="en-US" altLang="zh-CN" sz="800" dirty="0"/>
                        <a:t>1-4</a:t>
                      </a:r>
                      <a:endParaRPr lang="zh-CN" altLang="en-US" sz="800" dirty="0"/>
                    </a:p>
                    <a:p>
                      <a:endParaRPr lang="zh-CN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437889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36B9C4B-9B3D-EAEF-8D0D-5F27AAD307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400130"/>
              </p:ext>
            </p:extLst>
          </p:nvPr>
        </p:nvGraphicFramePr>
        <p:xfrm>
          <a:off x="1153895" y="2352950"/>
          <a:ext cx="6075579" cy="35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77">
                  <a:extLst>
                    <a:ext uri="{9D8B030D-6E8A-4147-A177-3AD203B41FA5}">
                      <a16:colId xmlns:a16="http://schemas.microsoft.com/office/drawing/2014/main" val="897216625"/>
                    </a:ext>
                  </a:extLst>
                </a:gridCol>
                <a:gridCol w="786286">
                  <a:extLst>
                    <a:ext uri="{9D8B030D-6E8A-4147-A177-3AD203B41FA5}">
                      <a16:colId xmlns:a16="http://schemas.microsoft.com/office/drawing/2014/main" val="3672226533"/>
                    </a:ext>
                  </a:extLst>
                </a:gridCol>
                <a:gridCol w="786286">
                  <a:extLst>
                    <a:ext uri="{9D8B030D-6E8A-4147-A177-3AD203B41FA5}">
                      <a16:colId xmlns:a16="http://schemas.microsoft.com/office/drawing/2014/main" val="2383896721"/>
                    </a:ext>
                  </a:extLst>
                </a:gridCol>
                <a:gridCol w="786286">
                  <a:extLst>
                    <a:ext uri="{9D8B030D-6E8A-4147-A177-3AD203B41FA5}">
                      <a16:colId xmlns:a16="http://schemas.microsoft.com/office/drawing/2014/main" val="212962426"/>
                    </a:ext>
                  </a:extLst>
                </a:gridCol>
                <a:gridCol w="786286">
                  <a:extLst>
                    <a:ext uri="{9D8B030D-6E8A-4147-A177-3AD203B41FA5}">
                      <a16:colId xmlns:a16="http://schemas.microsoft.com/office/drawing/2014/main" val="1200797000"/>
                    </a:ext>
                  </a:extLst>
                </a:gridCol>
                <a:gridCol w="786286">
                  <a:extLst>
                    <a:ext uri="{9D8B030D-6E8A-4147-A177-3AD203B41FA5}">
                      <a16:colId xmlns:a16="http://schemas.microsoft.com/office/drawing/2014/main" val="240937783"/>
                    </a:ext>
                  </a:extLst>
                </a:gridCol>
                <a:gridCol w="786286">
                  <a:extLst>
                    <a:ext uri="{9D8B030D-6E8A-4147-A177-3AD203B41FA5}">
                      <a16:colId xmlns:a16="http://schemas.microsoft.com/office/drawing/2014/main" val="1869031478"/>
                    </a:ext>
                  </a:extLst>
                </a:gridCol>
                <a:gridCol w="786286">
                  <a:extLst>
                    <a:ext uri="{9D8B030D-6E8A-4147-A177-3AD203B41FA5}">
                      <a16:colId xmlns:a16="http://schemas.microsoft.com/office/drawing/2014/main" val="2895757115"/>
                    </a:ext>
                  </a:extLst>
                </a:gridCol>
              </a:tblGrid>
              <a:tr h="359500">
                <a:tc>
                  <a:txBody>
                    <a:bodyPr/>
                    <a:lstStyle/>
                    <a:p>
                      <a:r>
                        <a:rPr lang="zh-CN" altLang="en-US" sz="800" dirty="0"/>
                        <a:t>传感器</a:t>
                      </a:r>
                      <a:r>
                        <a:rPr lang="en-US" altLang="zh-CN" sz="800" dirty="0"/>
                        <a:t>-Triger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 err="1"/>
                        <a:t>NbNum</a:t>
                      </a:r>
                      <a:endParaRPr lang="en-US" altLang="zh-CN" sz="800" dirty="0"/>
                    </a:p>
                    <a:p>
                      <a:r>
                        <a:rPr lang="en-US" altLang="zh-CN" sz="800" dirty="0"/>
                        <a:t>1-6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/>
                        <a:t>Rolling Flag</a:t>
                      </a:r>
                    </a:p>
                    <a:p>
                      <a:r>
                        <a:rPr lang="en-US" altLang="zh-CN" sz="800" dirty="0"/>
                        <a:t>0-3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 err="1"/>
                        <a:t>Dcc</a:t>
                      </a:r>
                      <a:r>
                        <a:rPr lang="en-US" altLang="zh-CN" sz="800" dirty="0"/>
                        <a:t> Flag</a:t>
                      </a:r>
                    </a:p>
                    <a:p>
                      <a:r>
                        <a:rPr lang="en-US" altLang="zh-CN" sz="800" dirty="0"/>
                        <a:t>0/1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 err="1">
                          <a:solidFill>
                            <a:srgbClr val="FF0000"/>
                          </a:solidFill>
                        </a:rPr>
                        <a:t>SlMsgNum</a:t>
                      </a:r>
                      <a:endParaRPr lang="en-US" altLang="zh-CN" sz="800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altLang="zh-CN" sz="800" dirty="0">
                          <a:solidFill>
                            <a:srgbClr val="FF0000"/>
                          </a:solidFill>
                        </a:rPr>
                        <a:t>0-15</a:t>
                      </a:r>
                      <a:endParaRPr lang="zh-CN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 err="1"/>
                        <a:t>FsMsgNum</a:t>
                      </a:r>
                      <a:endParaRPr lang="en-US" altLang="zh-CN" sz="800" dirty="0"/>
                    </a:p>
                    <a:p>
                      <a:r>
                        <a:rPr lang="en-US" altLang="zh-CN" sz="800" dirty="0"/>
                        <a:t>1-16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00" dirty="0"/>
                        <a:t>触发脉宽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00" dirty="0"/>
                        <a:t>延迟输出时间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437889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03A8F54E-1496-2931-2C7A-7831D0A27F26}"/>
              </a:ext>
            </a:extLst>
          </p:cNvPr>
          <p:cNvSpPr txBox="1"/>
          <p:nvPr/>
        </p:nvSpPr>
        <p:spPr>
          <a:xfrm>
            <a:off x="171450" y="327333"/>
            <a:ext cx="8667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通道配置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839C7D3-1591-A271-3A33-29297980D393}"/>
              </a:ext>
            </a:extLst>
          </p:cNvPr>
          <p:cNvSpPr txBox="1"/>
          <p:nvPr/>
        </p:nvSpPr>
        <p:spPr>
          <a:xfrm>
            <a:off x="171449" y="1437776"/>
            <a:ext cx="982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传感器配置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BA7AC517-AC20-6963-CB09-65B96F3F4D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4050520"/>
              </p:ext>
            </p:extLst>
          </p:nvPr>
        </p:nvGraphicFramePr>
        <p:xfrm>
          <a:off x="1153894" y="2712450"/>
          <a:ext cx="6075579" cy="35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77">
                  <a:extLst>
                    <a:ext uri="{9D8B030D-6E8A-4147-A177-3AD203B41FA5}">
                      <a16:colId xmlns:a16="http://schemas.microsoft.com/office/drawing/2014/main" val="897216625"/>
                    </a:ext>
                  </a:extLst>
                </a:gridCol>
                <a:gridCol w="786286">
                  <a:extLst>
                    <a:ext uri="{9D8B030D-6E8A-4147-A177-3AD203B41FA5}">
                      <a16:colId xmlns:a16="http://schemas.microsoft.com/office/drawing/2014/main" val="3672226533"/>
                    </a:ext>
                  </a:extLst>
                </a:gridCol>
                <a:gridCol w="786286">
                  <a:extLst>
                    <a:ext uri="{9D8B030D-6E8A-4147-A177-3AD203B41FA5}">
                      <a16:colId xmlns:a16="http://schemas.microsoft.com/office/drawing/2014/main" val="2383896721"/>
                    </a:ext>
                  </a:extLst>
                </a:gridCol>
                <a:gridCol w="786286">
                  <a:extLst>
                    <a:ext uri="{9D8B030D-6E8A-4147-A177-3AD203B41FA5}">
                      <a16:colId xmlns:a16="http://schemas.microsoft.com/office/drawing/2014/main" val="212962426"/>
                    </a:ext>
                  </a:extLst>
                </a:gridCol>
                <a:gridCol w="786286">
                  <a:extLst>
                    <a:ext uri="{9D8B030D-6E8A-4147-A177-3AD203B41FA5}">
                      <a16:colId xmlns:a16="http://schemas.microsoft.com/office/drawing/2014/main" val="1200797000"/>
                    </a:ext>
                  </a:extLst>
                </a:gridCol>
                <a:gridCol w="786286">
                  <a:extLst>
                    <a:ext uri="{9D8B030D-6E8A-4147-A177-3AD203B41FA5}">
                      <a16:colId xmlns:a16="http://schemas.microsoft.com/office/drawing/2014/main" val="240937783"/>
                    </a:ext>
                  </a:extLst>
                </a:gridCol>
                <a:gridCol w="786286">
                  <a:extLst>
                    <a:ext uri="{9D8B030D-6E8A-4147-A177-3AD203B41FA5}">
                      <a16:colId xmlns:a16="http://schemas.microsoft.com/office/drawing/2014/main" val="1869031478"/>
                    </a:ext>
                  </a:extLst>
                </a:gridCol>
                <a:gridCol w="786286">
                  <a:extLst>
                    <a:ext uri="{9D8B030D-6E8A-4147-A177-3AD203B41FA5}">
                      <a16:colId xmlns:a16="http://schemas.microsoft.com/office/drawing/2014/main" val="2895757115"/>
                    </a:ext>
                  </a:extLst>
                </a:gridCol>
              </a:tblGrid>
              <a:tr h="359500">
                <a:tc>
                  <a:txBody>
                    <a:bodyPr/>
                    <a:lstStyle/>
                    <a:p>
                      <a:r>
                        <a:rPr lang="zh-CN" altLang="en-US" sz="800" dirty="0"/>
                        <a:t>传感器</a:t>
                      </a:r>
                      <a:r>
                        <a:rPr lang="en-US" altLang="zh-CN" sz="800" dirty="0"/>
                        <a:t>-Triger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 err="1"/>
                        <a:t>NbNum</a:t>
                      </a:r>
                      <a:endParaRPr lang="en-US" altLang="zh-CN" sz="800" dirty="0"/>
                    </a:p>
                    <a:p>
                      <a:r>
                        <a:rPr lang="en-US" altLang="zh-CN" sz="800" dirty="0"/>
                        <a:t>1-6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/>
                        <a:t>Rolling Flag</a:t>
                      </a:r>
                    </a:p>
                    <a:p>
                      <a:r>
                        <a:rPr lang="en-US" altLang="zh-CN" sz="800" dirty="0"/>
                        <a:t>0-3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 err="1"/>
                        <a:t>Dcc</a:t>
                      </a:r>
                      <a:r>
                        <a:rPr lang="en-US" altLang="zh-CN" sz="800" dirty="0"/>
                        <a:t> Flag</a:t>
                      </a:r>
                    </a:p>
                    <a:p>
                      <a:r>
                        <a:rPr lang="en-US" altLang="zh-CN" sz="800" dirty="0"/>
                        <a:t>0/1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 err="1">
                          <a:solidFill>
                            <a:srgbClr val="FF0000"/>
                          </a:solidFill>
                        </a:rPr>
                        <a:t>SlMsgNum</a:t>
                      </a:r>
                      <a:endParaRPr lang="en-US" altLang="zh-CN" sz="800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altLang="zh-CN" sz="800" dirty="0">
                          <a:solidFill>
                            <a:srgbClr val="FF0000"/>
                          </a:solidFill>
                        </a:rPr>
                        <a:t>0-15</a:t>
                      </a:r>
                      <a:endParaRPr lang="zh-CN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 err="1"/>
                        <a:t>FsMsgNum</a:t>
                      </a:r>
                      <a:endParaRPr lang="en-US" altLang="zh-CN" sz="800" dirty="0"/>
                    </a:p>
                    <a:p>
                      <a:r>
                        <a:rPr lang="en-US" altLang="zh-CN" sz="800" dirty="0"/>
                        <a:t>1-16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00" dirty="0"/>
                        <a:t>触发脉宽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00" dirty="0"/>
                        <a:t>延迟输出时间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437889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D874A249-50C4-70D9-5E8F-6616C92994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809255"/>
              </p:ext>
            </p:extLst>
          </p:nvPr>
        </p:nvGraphicFramePr>
        <p:xfrm>
          <a:off x="1153893" y="3070725"/>
          <a:ext cx="6075579" cy="35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77">
                  <a:extLst>
                    <a:ext uri="{9D8B030D-6E8A-4147-A177-3AD203B41FA5}">
                      <a16:colId xmlns:a16="http://schemas.microsoft.com/office/drawing/2014/main" val="897216625"/>
                    </a:ext>
                  </a:extLst>
                </a:gridCol>
                <a:gridCol w="786286">
                  <a:extLst>
                    <a:ext uri="{9D8B030D-6E8A-4147-A177-3AD203B41FA5}">
                      <a16:colId xmlns:a16="http://schemas.microsoft.com/office/drawing/2014/main" val="3672226533"/>
                    </a:ext>
                  </a:extLst>
                </a:gridCol>
                <a:gridCol w="786286">
                  <a:extLst>
                    <a:ext uri="{9D8B030D-6E8A-4147-A177-3AD203B41FA5}">
                      <a16:colId xmlns:a16="http://schemas.microsoft.com/office/drawing/2014/main" val="2383896721"/>
                    </a:ext>
                  </a:extLst>
                </a:gridCol>
                <a:gridCol w="786286">
                  <a:extLst>
                    <a:ext uri="{9D8B030D-6E8A-4147-A177-3AD203B41FA5}">
                      <a16:colId xmlns:a16="http://schemas.microsoft.com/office/drawing/2014/main" val="212962426"/>
                    </a:ext>
                  </a:extLst>
                </a:gridCol>
                <a:gridCol w="786286">
                  <a:extLst>
                    <a:ext uri="{9D8B030D-6E8A-4147-A177-3AD203B41FA5}">
                      <a16:colId xmlns:a16="http://schemas.microsoft.com/office/drawing/2014/main" val="1200797000"/>
                    </a:ext>
                  </a:extLst>
                </a:gridCol>
                <a:gridCol w="786286">
                  <a:extLst>
                    <a:ext uri="{9D8B030D-6E8A-4147-A177-3AD203B41FA5}">
                      <a16:colId xmlns:a16="http://schemas.microsoft.com/office/drawing/2014/main" val="240937783"/>
                    </a:ext>
                  </a:extLst>
                </a:gridCol>
                <a:gridCol w="786286">
                  <a:extLst>
                    <a:ext uri="{9D8B030D-6E8A-4147-A177-3AD203B41FA5}">
                      <a16:colId xmlns:a16="http://schemas.microsoft.com/office/drawing/2014/main" val="1869031478"/>
                    </a:ext>
                  </a:extLst>
                </a:gridCol>
                <a:gridCol w="786286">
                  <a:extLst>
                    <a:ext uri="{9D8B030D-6E8A-4147-A177-3AD203B41FA5}">
                      <a16:colId xmlns:a16="http://schemas.microsoft.com/office/drawing/2014/main" val="2895757115"/>
                    </a:ext>
                  </a:extLst>
                </a:gridCol>
              </a:tblGrid>
              <a:tr h="359500">
                <a:tc>
                  <a:txBody>
                    <a:bodyPr/>
                    <a:lstStyle/>
                    <a:p>
                      <a:r>
                        <a:rPr lang="zh-CN" altLang="en-US" sz="800" dirty="0"/>
                        <a:t>传感器</a:t>
                      </a:r>
                      <a:r>
                        <a:rPr lang="en-US" altLang="zh-CN" sz="800" dirty="0"/>
                        <a:t>-Triger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 err="1"/>
                        <a:t>NbNum</a:t>
                      </a:r>
                      <a:endParaRPr lang="en-US" altLang="zh-CN" sz="800" dirty="0"/>
                    </a:p>
                    <a:p>
                      <a:r>
                        <a:rPr lang="en-US" altLang="zh-CN" sz="800" dirty="0"/>
                        <a:t>1-6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/>
                        <a:t>Rolling Flag</a:t>
                      </a:r>
                    </a:p>
                    <a:p>
                      <a:r>
                        <a:rPr lang="en-US" altLang="zh-CN" sz="800" dirty="0"/>
                        <a:t>0-3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 err="1"/>
                        <a:t>Dcc</a:t>
                      </a:r>
                      <a:r>
                        <a:rPr lang="en-US" altLang="zh-CN" sz="800" dirty="0"/>
                        <a:t> Flag</a:t>
                      </a:r>
                    </a:p>
                    <a:p>
                      <a:r>
                        <a:rPr lang="en-US" altLang="zh-CN" sz="800" dirty="0"/>
                        <a:t>0/1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 err="1">
                          <a:solidFill>
                            <a:srgbClr val="FF0000"/>
                          </a:solidFill>
                        </a:rPr>
                        <a:t>SlMsgNum</a:t>
                      </a:r>
                      <a:endParaRPr lang="en-US" altLang="zh-CN" sz="800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altLang="zh-CN" sz="800" dirty="0">
                          <a:solidFill>
                            <a:srgbClr val="FF0000"/>
                          </a:solidFill>
                        </a:rPr>
                        <a:t>0-15</a:t>
                      </a:r>
                      <a:endParaRPr lang="zh-CN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 err="1"/>
                        <a:t>FsMsgNum</a:t>
                      </a:r>
                      <a:endParaRPr lang="en-US" altLang="zh-CN" sz="800" dirty="0"/>
                    </a:p>
                    <a:p>
                      <a:r>
                        <a:rPr lang="en-US" altLang="zh-CN" sz="800" dirty="0"/>
                        <a:t>1-16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00" dirty="0"/>
                        <a:t>触发脉宽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00" dirty="0"/>
                        <a:t>延迟输出时间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437889"/>
                  </a:ext>
                </a:extLst>
              </a:tr>
            </a:tbl>
          </a:graphicData>
        </a:graphic>
      </p:graphicFrame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B4BDD39-AA68-F0B6-AF45-8A61517A5F61}"/>
              </a:ext>
            </a:extLst>
          </p:cNvPr>
          <p:cNvCxnSpPr/>
          <p:nvPr/>
        </p:nvCxnSpPr>
        <p:spPr>
          <a:xfrm flipH="1">
            <a:off x="6134100" y="502650"/>
            <a:ext cx="695325" cy="1212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43BC6AB-7999-FC7A-F30C-06AB9AC3F190}"/>
              </a:ext>
            </a:extLst>
          </p:cNvPr>
          <p:cNvCxnSpPr/>
          <p:nvPr/>
        </p:nvCxnSpPr>
        <p:spPr>
          <a:xfrm flipH="1">
            <a:off x="7229472" y="721725"/>
            <a:ext cx="314328" cy="1631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对话气泡: 矩形 15">
            <a:extLst>
              <a:ext uri="{FF2B5EF4-FFF2-40B4-BE49-F238E27FC236}">
                <a16:creationId xmlns:a16="http://schemas.microsoft.com/office/drawing/2014/main" id="{6D21FD7B-BF3E-9FC7-979B-AC6FE6625285}"/>
              </a:ext>
            </a:extLst>
          </p:cNvPr>
          <p:cNvSpPr/>
          <p:nvPr/>
        </p:nvSpPr>
        <p:spPr>
          <a:xfrm>
            <a:off x="7753349" y="1481412"/>
            <a:ext cx="1285875" cy="466725"/>
          </a:xfrm>
          <a:prstGeom prst="wedgeRectCallout">
            <a:avLst>
              <a:gd name="adj1" fmla="val -90379"/>
              <a:gd name="adj2" fmla="val 14617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这里根据上面配置的数量配置了多少给 就显示多少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7DEE84E8-BFE5-BEB4-8D98-25F8B97BD3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456125"/>
              </p:ext>
            </p:extLst>
          </p:nvPr>
        </p:nvGraphicFramePr>
        <p:xfrm>
          <a:off x="1153893" y="3429000"/>
          <a:ext cx="6075579" cy="35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77">
                  <a:extLst>
                    <a:ext uri="{9D8B030D-6E8A-4147-A177-3AD203B41FA5}">
                      <a16:colId xmlns:a16="http://schemas.microsoft.com/office/drawing/2014/main" val="897216625"/>
                    </a:ext>
                  </a:extLst>
                </a:gridCol>
                <a:gridCol w="786286">
                  <a:extLst>
                    <a:ext uri="{9D8B030D-6E8A-4147-A177-3AD203B41FA5}">
                      <a16:colId xmlns:a16="http://schemas.microsoft.com/office/drawing/2014/main" val="3672226533"/>
                    </a:ext>
                  </a:extLst>
                </a:gridCol>
                <a:gridCol w="786286">
                  <a:extLst>
                    <a:ext uri="{9D8B030D-6E8A-4147-A177-3AD203B41FA5}">
                      <a16:colId xmlns:a16="http://schemas.microsoft.com/office/drawing/2014/main" val="2383896721"/>
                    </a:ext>
                  </a:extLst>
                </a:gridCol>
                <a:gridCol w="786286">
                  <a:extLst>
                    <a:ext uri="{9D8B030D-6E8A-4147-A177-3AD203B41FA5}">
                      <a16:colId xmlns:a16="http://schemas.microsoft.com/office/drawing/2014/main" val="212962426"/>
                    </a:ext>
                  </a:extLst>
                </a:gridCol>
                <a:gridCol w="786286">
                  <a:extLst>
                    <a:ext uri="{9D8B030D-6E8A-4147-A177-3AD203B41FA5}">
                      <a16:colId xmlns:a16="http://schemas.microsoft.com/office/drawing/2014/main" val="1200797000"/>
                    </a:ext>
                  </a:extLst>
                </a:gridCol>
                <a:gridCol w="786286">
                  <a:extLst>
                    <a:ext uri="{9D8B030D-6E8A-4147-A177-3AD203B41FA5}">
                      <a16:colId xmlns:a16="http://schemas.microsoft.com/office/drawing/2014/main" val="240937783"/>
                    </a:ext>
                  </a:extLst>
                </a:gridCol>
                <a:gridCol w="786286">
                  <a:extLst>
                    <a:ext uri="{9D8B030D-6E8A-4147-A177-3AD203B41FA5}">
                      <a16:colId xmlns:a16="http://schemas.microsoft.com/office/drawing/2014/main" val="1869031478"/>
                    </a:ext>
                  </a:extLst>
                </a:gridCol>
                <a:gridCol w="786286">
                  <a:extLst>
                    <a:ext uri="{9D8B030D-6E8A-4147-A177-3AD203B41FA5}">
                      <a16:colId xmlns:a16="http://schemas.microsoft.com/office/drawing/2014/main" val="2895757115"/>
                    </a:ext>
                  </a:extLst>
                </a:gridCol>
              </a:tblGrid>
              <a:tr h="359500">
                <a:tc>
                  <a:txBody>
                    <a:bodyPr/>
                    <a:lstStyle/>
                    <a:p>
                      <a:r>
                        <a:rPr lang="zh-CN" altLang="en-US" sz="800" dirty="0"/>
                        <a:t>传感器</a:t>
                      </a:r>
                      <a:r>
                        <a:rPr lang="en-US" altLang="zh-CN" sz="800" dirty="0"/>
                        <a:t>-Triger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 err="1"/>
                        <a:t>NbNum</a:t>
                      </a:r>
                      <a:endParaRPr lang="en-US" altLang="zh-CN" sz="800" dirty="0"/>
                    </a:p>
                    <a:p>
                      <a:r>
                        <a:rPr lang="en-US" altLang="zh-CN" sz="800" dirty="0"/>
                        <a:t>1-6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/>
                        <a:t>Rolling Flag</a:t>
                      </a:r>
                    </a:p>
                    <a:p>
                      <a:r>
                        <a:rPr lang="en-US" altLang="zh-CN" sz="800" dirty="0"/>
                        <a:t>0-3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 err="1"/>
                        <a:t>Dcc</a:t>
                      </a:r>
                      <a:r>
                        <a:rPr lang="en-US" altLang="zh-CN" sz="800" dirty="0"/>
                        <a:t> Flag</a:t>
                      </a:r>
                    </a:p>
                    <a:p>
                      <a:r>
                        <a:rPr lang="en-US" altLang="zh-CN" sz="800" dirty="0"/>
                        <a:t>0/1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 err="1">
                          <a:solidFill>
                            <a:srgbClr val="FF0000"/>
                          </a:solidFill>
                        </a:rPr>
                        <a:t>SlMsgNum</a:t>
                      </a:r>
                      <a:endParaRPr lang="en-US" altLang="zh-CN" sz="800" dirty="0">
                        <a:solidFill>
                          <a:srgbClr val="FF0000"/>
                        </a:solidFill>
                      </a:endParaRPr>
                    </a:p>
                    <a:p>
                      <a:r>
                        <a:rPr lang="en-US" altLang="zh-CN" sz="800" dirty="0">
                          <a:solidFill>
                            <a:srgbClr val="FF0000"/>
                          </a:solidFill>
                        </a:rPr>
                        <a:t>0-15</a:t>
                      </a:r>
                      <a:endParaRPr lang="zh-CN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 err="1"/>
                        <a:t>FsMsgNum</a:t>
                      </a:r>
                      <a:endParaRPr lang="en-US" altLang="zh-CN" sz="800" dirty="0"/>
                    </a:p>
                    <a:p>
                      <a:r>
                        <a:rPr lang="en-US" altLang="zh-CN" sz="800" dirty="0"/>
                        <a:t>1-16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00" dirty="0"/>
                        <a:t>触发脉宽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00" dirty="0"/>
                        <a:t>延迟输出时间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437889"/>
                  </a:ext>
                </a:extLst>
              </a:tr>
            </a:tbl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941E1E00-3614-53C5-8F19-3A7C1F8A40AA}"/>
              </a:ext>
            </a:extLst>
          </p:cNvPr>
          <p:cNvSpPr/>
          <p:nvPr/>
        </p:nvSpPr>
        <p:spPr>
          <a:xfrm>
            <a:off x="838200" y="4238547"/>
            <a:ext cx="1800225" cy="359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正常模式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0825303-13C0-A19F-0984-7DBD14E7825B}"/>
              </a:ext>
            </a:extLst>
          </p:cNvPr>
          <p:cNvSpPr/>
          <p:nvPr/>
        </p:nvSpPr>
        <p:spPr>
          <a:xfrm>
            <a:off x="2638425" y="4238547"/>
            <a:ext cx="1800225" cy="359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自定义发送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CAD253-4928-B60C-E6A0-5D0742335407}"/>
              </a:ext>
            </a:extLst>
          </p:cNvPr>
          <p:cNvSpPr/>
          <p:nvPr/>
        </p:nvSpPr>
        <p:spPr>
          <a:xfrm>
            <a:off x="4438650" y="4238547"/>
            <a:ext cx="1800225" cy="359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桥接模式</a:t>
            </a:r>
          </a:p>
        </p:txBody>
      </p:sp>
    </p:spTree>
    <p:extLst>
      <p:ext uri="{BB962C8B-B14F-4D97-AF65-F5344CB8AC3E}">
        <p14:creationId xmlns:p14="http://schemas.microsoft.com/office/powerpoint/2010/main" val="917918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67D021DA-2827-5F21-CC67-5A54B40F7373}"/>
              </a:ext>
            </a:extLst>
          </p:cNvPr>
          <p:cNvSpPr/>
          <p:nvPr/>
        </p:nvSpPr>
        <p:spPr>
          <a:xfrm>
            <a:off x="419100" y="778522"/>
            <a:ext cx="8629650" cy="51079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9247F71-9701-29AF-0D3B-2453116607F4}"/>
              </a:ext>
            </a:extLst>
          </p:cNvPr>
          <p:cNvSpPr/>
          <p:nvPr/>
        </p:nvSpPr>
        <p:spPr>
          <a:xfrm>
            <a:off x="419100" y="419022"/>
            <a:ext cx="1800225" cy="359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正常模式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55718E-F838-EAFE-A18A-C5BCC0C5D509}"/>
              </a:ext>
            </a:extLst>
          </p:cNvPr>
          <p:cNvSpPr/>
          <p:nvPr/>
        </p:nvSpPr>
        <p:spPr>
          <a:xfrm>
            <a:off x="2219325" y="390447"/>
            <a:ext cx="1800225" cy="35950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自定义发送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7B202BA-E369-2EA0-EDA1-F29566796B8B}"/>
              </a:ext>
            </a:extLst>
          </p:cNvPr>
          <p:cNvSpPr/>
          <p:nvPr/>
        </p:nvSpPr>
        <p:spPr>
          <a:xfrm>
            <a:off x="4019550" y="419022"/>
            <a:ext cx="1800225" cy="359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桥接模式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EB309D14-045A-271F-E66B-AE7C7C4743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6507242"/>
              </p:ext>
            </p:extLst>
          </p:nvPr>
        </p:nvGraphicFramePr>
        <p:xfrm>
          <a:off x="934820" y="1238525"/>
          <a:ext cx="5754834" cy="35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402">
                  <a:extLst>
                    <a:ext uri="{9D8B030D-6E8A-4147-A177-3AD203B41FA5}">
                      <a16:colId xmlns:a16="http://schemas.microsoft.com/office/drawing/2014/main" val="897216625"/>
                    </a:ext>
                  </a:extLst>
                </a:gridCol>
                <a:gridCol w="744776">
                  <a:extLst>
                    <a:ext uri="{9D8B030D-6E8A-4147-A177-3AD203B41FA5}">
                      <a16:colId xmlns:a16="http://schemas.microsoft.com/office/drawing/2014/main" val="3672226533"/>
                    </a:ext>
                  </a:extLst>
                </a:gridCol>
                <a:gridCol w="744776">
                  <a:extLst>
                    <a:ext uri="{9D8B030D-6E8A-4147-A177-3AD203B41FA5}">
                      <a16:colId xmlns:a16="http://schemas.microsoft.com/office/drawing/2014/main" val="2383896721"/>
                    </a:ext>
                  </a:extLst>
                </a:gridCol>
                <a:gridCol w="744776">
                  <a:extLst>
                    <a:ext uri="{9D8B030D-6E8A-4147-A177-3AD203B41FA5}">
                      <a16:colId xmlns:a16="http://schemas.microsoft.com/office/drawing/2014/main" val="212962426"/>
                    </a:ext>
                  </a:extLst>
                </a:gridCol>
                <a:gridCol w="744776">
                  <a:extLst>
                    <a:ext uri="{9D8B030D-6E8A-4147-A177-3AD203B41FA5}">
                      <a16:colId xmlns:a16="http://schemas.microsoft.com/office/drawing/2014/main" val="1200797000"/>
                    </a:ext>
                  </a:extLst>
                </a:gridCol>
                <a:gridCol w="744776">
                  <a:extLst>
                    <a:ext uri="{9D8B030D-6E8A-4147-A177-3AD203B41FA5}">
                      <a16:colId xmlns:a16="http://schemas.microsoft.com/office/drawing/2014/main" val="240937783"/>
                    </a:ext>
                  </a:extLst>
                </a:gridCol>
                <a:gridCol w="724448">
                  <a:extLst>
                    <a:ext uri="{9D8B030D-6E8A-4147-A177-3AD203B41FA5}">
                      <a16:colId xmlns:a16="http://schemas.microsoft.com/office/drawing/2014/main" val="1869031478"/>
                    </a:ext>
                  </a:extLst>
                </a:gridCol>
                <a:gridCol w="765104">
                  <a:extLst>
                    <a:ext uri="{9D8B030D-6E8A-4147-A177-3AD203B41FA5}">
                      <a16:colId xmlns:a16="http://schemas.microsoft.com/office/drawing/2014/main" val="2895757115"/>
                    </a:ext>
                  </a:extLst>
                </a:gridCol>
              </a:tblGrid>
              <a:tr h="359500">
                <a:tc>
                  <a:txBody>
                    <a:bodyPr/>
                    <a:lstStyle/>
                    <a:p>
                      <a:r>
                        <a:rPr lang="zh-CN" altLang="en-US" sz="800" dirty="0"/>
                        <a:t>传感器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800" dirty="0"/>
                        <a:t>缓存位置</a:t>
                      </a:r>
                      <a:endParaRPr lang="en-US" altLang="zh-CN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/>
                        <a:t>Stus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/>
                        <a:t>NB0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/>
                        <a:t>NB5</a:t>
                      </a:r>
                    </a:p>
                    <a:p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/>
                        <a:t>CRC_TYPE</a:t>
                      </a:r>
                      <a:endParaRPr lang="zh-CN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54378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6873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DB2F6-6FA2-E071-0E2D-2F13F2613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B35D86C-F3DC-D5A5-B8F0-423AC928E970}"/>
              </a:ext>
            </a:extLst>
          </p:cNvPr>
          <p:cNvSpPr/>
          <p:nvPr/>
        </p:nvSpPr>
        <p:spPr>
          <a:xfrm>
            <a:off x="419100" y="778522"/>
            <a:ext cx="8629650" cy="51079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5D9C777-32BD-8EC2-3A2B-C6A649754F1F}"/>
              </a:ext>
            </a:extLst>
          </p:cNvPr>
          <p:cNvSpPr/>
          <p:nvPr/>
        </p:nvSpPr>
        <p:spPr>
          <a:xfrm>
            <a:off x="419100" y="419022"/>
            <a:ext cx="1800225" cy="359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正常模式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D0F207-AE58-9D27-7D67-3BEB7351DB2C}"/>
              </a:ext>
            </a:extLst>
          </p:cNvPr>
          <p:cNvSpPr/>
          <p:nvPr/>
        </p:nvSpPr>
        <p:spPr>
          <a:xfrm>
            <a:off x="2219325" y="409497"/>
            <a:ext cx="1800225" cy="359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自定义发送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0CC0331-F749-DA3E-76B6-B4F2DCD8C8F0}"/>
              </a:ext>
            </a:extLst>
          </p:cNvPr>
          <p:cNvSpPr/>
          <p:nvPr/>
        </p:nvSpPr>
        <p:spPr>
          <a:xfrm>
            <a:off x="4019550" y="352347"/>
            <a:ext cx="1800225" cy="359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桥接模式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F76E8B26-B9F7-C55C-F4E7-99BA7B4342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279466"/>
              </p:ext>
            </p:extLst>
          </p:nvPr>
        </p:nvGraphicFramePr>
        <p:xfrm>
          <a:off x="860425" y="1497522"/>
          <a:ext cx="3397248" cy="82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656">
                  <a:extLst>
                    <a:ext uri="{9D8B030D-6E8A-4147-A177-3AD203B41FA5}">
                      <a16:colId xmlns:a16="http://schemas.microsoft.com/office/drawing/2014/main" val="838673189"/>
                    </a:ext>
                  </a:extLst>
                </a:gridCol>
                <a:gridCol w="424656">
                  <a:extLst>
                    <a:ext uri="{9D8B030D-6E8A-4147-A177-3AD203B41FA5}">
                      <a16:colId xmlns:a16="http://schemas.microsoft.com/office/drawing/2014/main" val="1141828001"/>
                    </a:ext>
                  </a:extLst>
                </a:gridCol>
                <a:gridCol w="424656">
                  <a:extLst>
                    <a:ext uri="{9D8B030D-6E8A-4147-A177-3AD203B41FA5}">
                      <a16:colId xmlns:a16="http://schemas.microsoft.com/office/drawing/2014/main" val="4192974333"/>
                    </a:ext>
                  </a:extLst>
                </a:gridCol>
                <a:gridCol w="424656">
                  <a:extLst>
                    <a:ext uri="{9D8B030D-6E8A-4147-A177-3AD203B41FA5}">
                      <a16:colId xmlns:a16="http://schemas.microsoft.com/office/drawing/2014/main" val="83856477"/>
                    </a:ext>
                  </a:extLst>
                </a:gridCol>
                <a:gridCol w="424656">
                  <a:extLst>
                    <a:ext uri="{9D8B030D-6E8A-4147-A177-3AD203B41FA5}">
                      <a16:colId xmlns:a16="http://schemas.microsoft.com/office/drawing/2014/main" val="1555828245"/>
                    </a:ext>
                  </a:extLst>
                </a:gridCol>
                <a:gridCol w="424656">
                  <a:extLst>
                    <a:ext uri="{9D8B030D-6E8A-4147-A177-3AD203B41FA5}">
                      <a16:colId xmlns:a16="http://schemas.microsoft.com/office/drawing/2014/main" val="3794565468"/>
                    </a:ext>
                  </a:extLst>
                </a:gridCol>
                <a:gridCol w="424656">
                  <a:extLst>
                    <a:ext uri="{9D8B030D-6E8A-4147-A177-3AD203B41FA5}">
                      <a16:colId xmlns:a16="http://schemas.microsoft.com/office/drawing/2014/main" val="1934065106"/>
                    </a:ext>
                  </a:extLst>
                </a:gridCol>
                <a:gridCol w="424656">
                  <a:extLst>
                    <a:ext uri="{9D8B030D-6E8A-4147-A177-3AD203B41FA5}">
                      <a16:colId xmlns:a16="http://schemas.microsoft.com/office/drawing/2014/main" val="12949227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800" dirty="0"/>
                        <a:t>ST_B3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ST_B2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ST_B1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ST_B0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/>
                        <a:t>D0_B3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D0_B3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D0_B3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D0_B3</a:t>
                      </a:r>
                      <a:endParaRPr lang="zh-CN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359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800" dirty="0"/>
                        <a:t>X/0/1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X/0/1</a:t>
                      </a:r>
                      <a:endParaRPr lang="zh-CN" altLang="en-US" sz="800" dirty="0"/>
                    </a:p>
                    <a:p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X/0/1</a:t>
                      </a:r>
                      <a:endParaRPr lang="zh-CN" altLang="en-US" sz="800" dirty="0"/>
                    </a:p>
                    <a:p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X/0/1</a:t>
                      </a:r>
                      <a:endParaRPr lang="zh-CN" altLang="en-US" sz="800" dirty="0"/>
                    </a:p>
                    <a:p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X/0/1</a:t>
                      </a:r>
                      <a:endParaRPr lang="zh-CN" altLang="en-US" sz="800" dirty="0"/>
                    </a:p>
                    <a:p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X/0/1</a:t>
                      </a:r>
                      <a:endParaRPr lang="zh-CN" altLang="en-US" sz="800" dirty="0"/>
                    </a:p>
                    <a:p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X/0/1</a:t>
                      </a:r>
                      <a:endParaRPr lang="zh-CN" altLang="en-US" sz="800" dirty="0"/>
                    </a:p>
                    <a:p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00" dirty="0"/>
                        <a:t>X/0/1</a:t>
                      </a:r>
                      <a:endParaRPr lang="zh-CN" altLang="en-US" sz="800" dirty="0"/>
                    </a:p>
                    <a:p>
                      <a:endParaRPr lang="zh-CN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0367538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36D0595D-A3A9-05B6-39A4-4C3143D54474}"/>
              </a:ext>
            </a:extLst>
          </p:cNvPr>
          <p:cNvSpPr txBox="1"/>
          <p:nvPr/>
        </p:nvSpPr>
        <p:spPr>
          <a:xfrm>
            <a:off x="774700" y="1282078"/>
            <a:ext cx="16383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/>
              <a:t>修改</a:t>
            </a:r>
            <a:r>
              <a:rPr lang="en-US" altLang="zh-CN" sz="800" dirty="0"/>
              <a:t>MASK</a:t>
            </a:r>
            <a:endParaRPr lang="zh-CN" altLang="en-US" sz="8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CDB10F8-EE14-0414-348C-EF7D30B4D73B}"/>
              </a:ext>
            </a:extLst>
          </p:cNvPr>
          <p:cNvSpPr/>
          <p:nvPr/>
        </p:nvSpPr>
        <p:spPr>
          <a:xfrm>
            <a:off x="523875" y="891475"/>
            <a:ext cx="1800225" cy="359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Sensor1</a:t>
            </a:r>
            <a:endParaRPr lang="zh-CN" altLang="en-US" sz="12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9080B5-706E-65A6-EBEA-BB763C3E0DB0}"/>
              </a:ext>
            </a:extLst>
          </p:cNvPr>
          <p:cNvSpPr/>
          <p:nvPr/>
        </p:nvSpPr>
        <p:spPr>
          <a:xfrm>
            <a:off x="2324100" y="904220"/>
            <a:ext cx="1800225" cy="359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Sensor2</a:t>
            </a:r>
            <a:endParaRPr lang="zh-CN" altLang="en-US" sz="12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49BF26C-F9BD-B098-3F45-944E273A9FB8}"/>
              </a:ext>
            </a:extLst>
          </p:cNvPr>
          <p:cNvSpPr/>
          <p:nvPr/>
        </p:nvSpPr>
        <p:spPr>
          <a:xfrm>
            <a:off x="4137025" y="891475"/>
            <a:ext cx="1800225" cy="359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Sensor3</a:t>
            </a:r>
            <a:endParaRPr lang="zh-CN" altLang="en-US" sz="12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3C072DA-AE79-DE23-142D-EA5D9B07C710}"/>
              </a:ext>
            </a:extLst>
          </p:cNvPr>
          <p:cNvSpPr/>
          <p:nvPr/>
        </p:nvSpPr>
        <p:spPr>
          <a:xfrm>
            <a:off x="5949950" y="891475"/>
            <a:ext cx="1800225" cy="359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Sensor4</a:t>
            </a:r>
            <a:endParaRPr lang="zh-CN" altLang="en-US" sz="1200" dirty="0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460BC073-515B-C6BD-0C86-C374FB06C3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5132871"/>
              </p:ext>
            </p:extLst>
          </p:nvPr>
        </p:nvGraphicFramePr>
        <p:xfrm>
          <a:off x="523875" y="2577833"/>
          <a:ext cx="8127991" cy="310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789">
                  <a:extLst>
                    <a:ext uri="{9D8B030D-6E8A-4147-A177-3AD203B41FA5}">
                      <a16:colId xmlns:a16="http://schemas.microsoft.com/office/drawing/2014/main" val="2626750006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2029152810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4228067071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1094586001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4235209164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3372019062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1912243292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1738656242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2786987190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262045973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2197149630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1060462780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2221760604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3781641779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1193486258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3542306521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1844371201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1436286954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2712670592"/>
                    </a:ext>
                  </a:extLst>
                </a:gridCol>
              </a:tblGrid>
              <a:tr h="310887">
                <a:tc>
                  <a:txBody>
                    <a:bodyPr/>
                    <a:lstStyle/>
                    <a:p>
                      <a:r>
                        <a:rPr lang="en-US" altLang="zh-CN" sz="800" dirty="0"/>
                        <a:t>ST:3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/>
                        <a:t>ST:0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/>
                        <a:t>D0:3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/>
                        <a:t>D0:0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/>
                        <a:t>….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/>
                        <a:t>D5:3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/>
                        <a:t>D5:0</a:t>
                      </a:r>
                      <a:endParaRPr lang="zh-CN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1595290"/>
                  </a:ext>
                </a:extLst>
              </a:tr>
            </a:tbl>
          </a:graphicData>
        </a:graphic>
      </p:graphicFrame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BC459925-145C-DC82-5C34-0601F29202E8}"/>
              </a:ext>
            </a:extLst>
          </p:cNvPr>
          <p:cNvCxnSpPr/>
          <p:nvPr/>
        </p:nvCxnSpPr>
        <p:spPr>
          <a:xfrm flipV="1">
            <a:off x="774700" y="2888720"/>
            <a:ext cx="0" cy="321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9811B97-FB35-B34E-1364-096543C5AB4B}"/>
              </a:ext>
            </a:extLst>
          </p:cNvPr>
          <p:cNvCxnSpPr/>
          <p:nvPr/>
        </p:nvCxnSpPr>
        <p:spPr>
          <a:xfrm flipV="1">
            <a:off x="3775075" y="2851942"/>
            <a:ext cx="0" cy="321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2A5593F2-A948-0C11-580B-01D42618D446}"/>
              </a:ext>
            </a:extLst>
          </p:cNvPr>
          <p:cNvSpPr txBox="1"/>
          <p:nvPr/>
        </p:nvSpPr>
        <p:spPr>
          <a:xfrm>
            <a:off x="581025" y="3248220"/>
            <a:ext cx="7524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err="1"/>
              <a:t>A_Start</a:t>
            </a:r>
            <a:endParaRPr lang="zh-CN" altLang="en-US" sz="8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D94D6C4-10BB-E477-BE56-C17E0B1DE817}"/>
              </a:ext>
            </a:extLst>
          </p:cNvPr>
          <p:cNvSpPr txBox="1"/>
          <p:nvPr/>
        </p:nvSpPr>
        <p:spPr>
          <a:xfrm>
            <a:off x="3505203" y="3162829"/>
            <a:ext cx="7524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err="1"/>
              <a:t>A_End</a:t>
            </a:r>
            <a:endParaRPr lang="zh-CN" altLang="en-US" sz="800" dirty="0"/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A33BC002-FE18-79BE-46AD-E3B2BBDD0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810779"/>
              </p:ext>
            </p:extLst>
          </p:nvPr>
        </p:nvGraphicFramePr>
        <p:xfrm>
          <a:off x="581026" y="3597937"/>
          <a:ext cx="8353422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346">
                  <a:extLst>
                    <a:ext uri="{9D8B030D-6E8A-4147-A177-3AD203B41FA5}">
                      <a16:colId xmlns:a16="http://schemas.microsoft.com/office/drawing/2014/main" val="872619311"/>
                    </a:ext>
                  </a:extLst>
                </a:gridCol>
                <a:gridCol w="1193346">
                  <a:extLst>
                    <a:ext uri="{9D8B030D-6E8A-4147-A177-3AD203B41FA5}">
                      <a16:colId xmlns:a16="http://schemas.microsoft.com/office/drawing/2014/main" val="2498924018"/>
                    </a:ext>
                  </a:extLst>
                </a:gridCol>
                <a:gridCol w="1193346">
                  <a:extLst>
                    <a:ext uri="{9D8B030D-6E8A-4147-A177-3AD203B41FA5}">
                      <a16:colId xmlns:a16="http://schemas.microsoft.com/office/drawing/2014/main" val="1070527714"/>
                    </a:ext>
                  </a:extLst>
                </a:gridCol>
                <a:gridCol w="1193346">
                  <a:extLst>
                    <a:ext uri="{9D8B030D-6E8A-4147-A177-3AD203B41FA5}">
                      <a16:colId xmlns:a16="http://schemas.microsoft.com/office/drawing/2014/main" val="299329777"/>
                    </a:ext>
                  </a:extLst>
                </a:gridCol>
                <a:gridCol w="1193346">
                  <a:extLst>
                    <a:ext uri="{9D8B030D-6E8A-4147-A177-3AD203B41FA5}">
                      <a16:colId xmlns:a16="http://schemas.microsoft.com/office/drawing/2014/main" val="3329203121"/>
                    </a:ext>
                  </a:extLst>
                </a:gridCol>
                <a:gridCol w="1193346">
                  <a:extLst>
                    <a:ext uri="{9D8B030D-6E8A-4147-A177-3AD203B41FA5}">
                      <a16:colId xmlns:a16="http://schemas.microsoft.com/office/drawing/2014/main" val="3163360868"/>
                    </a:ext>
                  </a:extLst>
                </a:gridCol>
                <a:gridCol w="1193346">
                  <a:extLst>
                    <a:ext uri="{9D8B030D-6E8A-4147-A177-3AD203B41FA5}">
                      <a16:colId xmlns:a16="http://schemas.microsoft.com/office/drawing/2014/main" val="23682304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数据格式</a:t>
                      </a:r>
                      <a:endParaRPr lang="en-US" altLang="zh-CN" sz="1000" dirty="0"/>
                    </a:p>
                    <a:p>
                      <a:r>
                        <a:rPr lang="zh-CN" altLang="en-US" sz="1000" dirty="0"/>
                        <a:t>关闭 </a:t>
                      </a:r>
                      <a:r>
                        <a:rPr lang="en-US" altLang="zh-CN" sz="1000" dirty="0"/>
                        <a:t>/D0-D5 /D5/D0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低通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倍率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偏移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最小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最大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延迟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470889"/>
                  </a:ext>
                </a:extLst>
              </a:tr>
            </a:tbl>
          </a:graphicData>
        </a:graphic>
      </p:graphicFrame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D5E8273C-6B1F-A094-F056-2A9718424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6176334"/>
              </p:ext>
            </p:extLst>
          </p:nvPr>
        </p:nvGraphicFramePr>
        <p:xfrm>
          <a:off x="523875" y="4232141"/>
          <a:ext cx="8127991" cy="310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789">
                  <a:extLst>
                    <a:ext uri="{9D8B030D-6E8A-4147-A177-3AD203B41FA5}">
                      <a16:colId xmlns:a16="http://schemas.microsoft.com/office/drawing/2014/main" val="2626750006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2029152810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4228067071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1094586001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4235209164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3372019062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1912243292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1738656242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2786987190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262045973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2197149630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1060462780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2221760604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3781641779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1193486258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3542306521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1844371201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1436286954"/>
                    </a:ext>
                  </a:extLst>
                </a:gridCol>
                <a:gridCol w="427789">
                  <a:extLst>
                    <a:ext uri="{9D8B030D-6E8A-4147-A177-3AD203B41FA5}">
                      <a16:colId xmlns:a16="http://schemas.microsoft.com/office/drawing/2014/main" val="2712670592"/>
                    </a:ext>
                  </a:extLst>
                </a:gridCol>
              </a:tblGrid>
              <a:tr h="310887">
                <a:tc>
                  <a:txBody>
                    <a:bodyPr/>
                    <a:lstStyle/>
                    <a:p>
                      <a:r>
                        <a:rPr lang="en-US" altLang="zh-CN" sz="800" dirty="0"/>
                        <a:t>ST:3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/>
                        <a:t>ST:0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/>
                        <a:t>D0:3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/>
                        <a:t>D0:0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/>
                        <a:t>….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/>
                        <a:t>D5:3</a:t>
                      </a:r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800" dirty="0"/>
                        <a:t>D5:0</a:t>
                      </a:r>
                      <a:endParaRPr lang="zh-CN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1595290"/>
                  </a:ext>
                </a:extLst>
              </a:tr>
            </a:tbl>
          </a:graphicData>
        </a:graphic>
      </p:graphicFrame>
      <p:grpSp>
        <p:nvGrpSpPr>
          <p:cNvPr id="29" name="组合 28">
            <a:extLst>
              <a:ext uri="{FF2B5EF4-FFF2-40B4-BE49-F238E27FC236}">
                <a16:creationId xmlns:a16="http://schemas.microsoft.com/office/drawing/2014/main" id="{E39D1646-CDDC-F7E9-CB58-EB2FA5928456}"/>
              </a:ext>
            </a:extLst>
          </p:cNvPr>
          <p:cNvGrpSpPr/>
          <p:nvPr/>
        </p:nvGrpSpPr>
        <p:grpSpPr>
          <a:xfrm>
            <a:off x="5149855" y="4590054"/>
            <a:ext cx="752470" cy="574944"/>
            <a:chOff x="581025" y="4543028"/>
            <a:chExt cx="752470" cy="574944"/>
          </a:xfrm>
        </p:grpSpPr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B650048B-48DA-8108-D739-869C8108AC6A}"/>
                </a:ext>
              </a:extLst>
            </p:cNvPr>
            <p:cNvCxnSpPr/>
            <p:nvPr/>
          </p:nvCxnSpPr>
          <p:spPr>
            <a:xfrm flipV="1">
              <a:off x="774700" y="4543028"/>
              <a:ext cx="0" cy="3212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420B8004-F0A8-9597-712A-575AA78F81BF}"/>
                </a:ext>
              </a:extLst>
            </p:cNvPr>
            <p:cNvSpPr txBox="1"/>
            <p:nvPr/>
          </p:nvSpPr>
          <p:spPr>
            <a:xfrm>
              <a:off x="581025" y="4902528"/>
              <a:ext cx="7524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 err="1"/>
                <a:t>B_Start</a:t>
              </a:r>
              <a:endParaRPr lang="zh-CN" altLang="en-US" sz="800" dirty="0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58F7822E-2CC7-420F-53E8-B1D9B6ABE4A8}"/>
              </a:ext>
            </a:extLst>
          </p:cNvPr>
          <p:cNvGrpSpPr/>
          <p:nvPr/>
        </p:nvGrpSpPr>
        <p:grpSpPr>
          <a:xfrm>
            <a:off x="8181978" y="4571738"/>
            <a:ext cx="752470" cy="526331"/>
            <a:chOff x="3505203" y="4506250"/>
            <a:chExt cx="752470" cy="526331"/>
          </a:xfrm>
        </p:grpSpPr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BF5231C2-C96A-A4DE-BDBB-981BFF35A7C3}"/>
                </a:ext>
              </a:extLst>
            </p:cNvPr>
            <p:cNvCxnSpPr/>
            <p:nvPr/>
          </p:nvCxnSpPr>
          <p:spPr>
            <a:xfrm flipV="1">
              <a:off x="3775075" y="4506250"/>
              <a:ext cx="0" cy="3212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D1ACC3E3-FA68-1EDA-52F0-D8042AF1D5E0}"/>
                </a:ext>
              </a:extLst>
            </p:cNvPr>
            <p:cNvSpPr txBox="1"/>
            <p:nvPr/>
          </p:nvSpPr>
          <p:spPr>
            <a:xfrm>
              <a:off x="3505203" y="4817137"/>
              <a:ext cx="7524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dirty="0" err="1"/>
                <a:t>B_End</a:t>
              </a:r>
              <a:endParaRPr lang="zh-CN" altLang="en-US" sz="800" dirty="0"/>
            </a:p>
          </p:txBody>
        </p:sp>
      </p:grp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5F1BFC6C-986A-3557-43B7-695C0B09F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823532"/>
              </p:ext>
            </p:extLst>
          </p:nvPr>
        </p:nvGraphicFramePr>
        <p:xfrm>
          <a:off x="806446" y="5207131"/>
          <a:ext cx="6773334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8889">
                  <a:extLst>
                    <a:ext uri="{9D8B030D-6E8A-4147-A177-3AD203B41FA5}">
                      <a16:colId xmlns:a16="http://schemas.microsoft.com/office/drawing/2014/main" val="1067248415"/>
                    </a:ext>
                  </a:extLst>
                </a:gridCol>
                <a:gridCol w="1128889">
                  <a:extLst>
                    <a:ext uri="{9D8B030D-6E8A-4147-A177-3AD203B41FA5}">
                      <a16:colId xmlns:a16="http://schemas.microsoft.com/office/drawing/2014/main" val="2498924018"/>
                    </a:ext>
                  </a:extLst>
                </a:gridCol>
                <a:gridCol w="1128889">
                  <a:extLst>
                    <a:ext uri="{9D8B030D-6E8A-4147-A177-3AD203B41FA5}">
                      <a16:colId xmlns:a16="http://schemas.microsoft.com/office/drawing/2014/main" val="1070527714"/>
                    </a:ext>
                  </a:extLst>
                </a:gridCol>
                <a:gridCol w="1128889">
                  <a:extLst>
                    <a:ext uri="{9D8B030D-6E8A-4147-A177-3AD203B41FA5}">
                      <a16:colId xmlns:a16="http://schemas.microsoft.com/office/drawing/2014/main" val="299329777"/>
                    </a:ext>
                  </a:extLst>
                </a:gridCol>
                <a:gridCol w="1128889">
                  <a:extLst>
                    <a:ext uri="{9D8B030D-6E8A-4147-A177-3AD203B41FA5}">
                      <a16:colId xmlns:a16="http://schemas.microsoft.com/office/drawing/2014/main" val="3329203121"/>
                    </a:ext>
                  </a:extLst>
                </a:gridCol>
                <a:gridCol w="1128889">
                  <a:extLst>
                    <a:ext uri="{9D8B030D-6E8A-4147-A177-3AD203B41FA5}">
                      <a16:colId xmlns:a16="http://schemas.microsoft.com/office/drawing/2014/main" val="31633608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数据格式</a:t>
                      </a:r>
                      <a:endParaRPr lang="en-US" altLang="zh-CN" sz="1000" dirty="0"/>
                    </a:p>
                    <a:p>
                      <a:r>
                        <a:rPr lang="zh-CN" altLang="en-US" sz="1000" dirty="0"/>
                        <a:t>关闭 </a:t>
                      </a:r>
                      <a:r>
                        <a:rPr lang="en-US" altLang="zh-CN" sz="1000" dirty="0"/>
                        <a:t>/D0-D5 /D5/D0</a:t>
                      </a:r>
                      <a:endParaRPr lang="zh-CN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低通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倍率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偏移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最小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 dirty="0"/>
                        <a:t>最大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470889"/>
                  </a:ext>
                </a:extLst>
              </a:tr>
            </a:tbl>
          </a:graphicData>
        </a:graphic>
      </p:graphicFrame>
      <p:sp>
        <p:nvSpPr>
          <p:cNvPr id="30" name="矩形 29">
            <a:extLst>
              <a:ext uri="{FF2B5EF4-FFF2-40B4-BE49-F238E27FC236}">
                <a16:creationId xmlns:a16="http://schemas.microsoft.com/office/drawing/2014/main" id="{E56FCE15-4E4C-4271-D7FB-F3AEB004EC2C}"/>
              </a:ext>
            </a:extLst>
          </p:cNvPr>
          <p:cNvSpPr/>
          <p:nvPr/>
        </p:nvSpPr>
        <p:spPr>
          <a:xfrm>
            <a:off x="4919662" y="1554737"/>
            <a:ext cx="1468438" cy="4839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/>
              <a:t>校验方式</a:t>
            </a:r>
            <a:endParaRPr lang="en-US" altLang="zh-CN" sz="1000" dirty="0"/>
          </a:p>
          <a:p>
            <a:pPr algn="ctr"/>
            <a:endParaRPr lang="en-US" altLang="zh-CN" sz="1000" dirty="0"/>
          </a:p>
          <a:p>
            <a:pPr algn="ctr"/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52309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7551</TotalTime>
  <Words>302</Words>
  <Application>Microsoft Office PowerPoint</Application>
  <PresentationFormat>宽屏</PresentationFormat>
  <Paragraphs>152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tl yu</dc:creator>
  <cp:lastModifiedBy>tl yu</cp:lastModifiedBy>
  <cp:revision>73</cp:revision>
  <dcterms:created xsi:type="dcterms:W3CDTF">2024-09-10T03:16:16Z</dcterms:created>
  <dcterms:modified xsi:type="dcterms:W3CDTF">2026-01-06T02:49:35Z</dcterms:modified>
</cp:coreProperties>
</file>